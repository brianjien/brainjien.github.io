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9" r:id="rId13"/>
    <p:sldId id="268" r:id="rId14"/>
    <p:sldId id="270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04"/>
    <p:restoredTop sz="97861"/>
  </p:normalViewPr>
  <p:slideViewPr>
    <p:cSldViewPr snapToGrid="0" snapToObjects="1">
      <p:cViewPr>
        <p:scale>
          <a:sx n="193" d="100"/>
          <a:sy n="193" d="100"/>
        </p:scale>
        <p:origin x="-160" y="-608"/>
      </p:cViewPr>
      <p:guideLst/>
    </p:cSldViewPr>
  </p:slideViewPr>
  <p:notesTextViewPr>
    <p:cViewPr>
      <p:scale>
        <a:sx n="140" d="100"/>
        <a:sy n="14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761"/>
                </a:solidFill>
                <a:latin typeface="Arial"/>
              </a:rPr>
              <a:t>% of tests favoring each demographic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tests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White-favored</c:v>
                </c:pt>
                <c:pt idx="1">
                  <c:v>Black-favored</c:v>
                </c:pt>
                <c:pt idx="2">
                  <c:v>Male-favored</c:v>
                </c:pt>
                <c:pt idx="3">
                  <c:v>Female-favored</c:v>
                </c:pt>
                <c:pt idx="4">
                  <c:v>BlackMale disadv.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85.1</c:v>
                </c:pt>
                <c:pt idx="1">
                  <c:v>8.6</c:v>
                </c:pt>
                <c:pt idx="2">
                  <c:v>51.9</c:v>
                </c:pt>
                <c:pt idx="3">
                  <c:v>11.1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57-904C-A011-FAEEE99D7A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0"/>
        <c:axPos val="b"/>
        <c:majorGridlines>
          <c:spPr>
            <a:ln w="6350" cap="flat">
              <a:solidFill>
                <a:srgbClr val="D8DE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000" b="0" i="0" u="none" strike="noStrike" dirty="0">
                <a:solidFill>
                  <a:srgbClr val="1E2761"/>
                </a:solidFill>
                <a:latin typeface="Arial"/>
              </a:rPr>
              <a:t>GPT-3.5 Turbo · </a:t>
            </a:r>
            <a:r>
              <a:rPr lang="el-GR" sz="1000" b="0" i="0" u="none" strike="noStrike" dirty="0">
                <a:solidFill>
                  <a:srgbClr val="1E2761"/>
                </a:solidFill>
                <a:latin typeface="Arial"/>
              </a:rPr>
              <a:t>Δ </a:t>
            </a:r>
            <a:r>
              <a:rPr lang="en-US" sz="1000" b="0" i="0" u="none" strike="noStrike" dirty="0">
                <a:solidFill>
                  <a:srgbClr val="1E2761"/>
                </a:solidFill>
                <a:latin typeface="Arial"/>
              </a:rPr>
              <a:t>hire-prob vs. White male at </a:t>
            </a:r>
            <a:r>
              <a:rPr lang="el-GR" sz="1000" b="0" i="0" u="none" strike="noStrike" dirty="0">
                <a:solidFill>
                  <a:srgbClr val="1E2761"/>
                </a:solidFill>
                <a:latin typeface="Arial"/>
              </a:rPr>
              <a:t>τ=80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hire-prob (pp)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pp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Black female</c:v>
                </c:pt>
                <c:pt idx="1">
                  <c:v>White female</c:v>
                </c:pt>
                <c:pt idx="2">
                  <c:v>Black male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1.7</c:v>
                </c:pt>
                <c:pt idx="1">
                  <c:v>1.4</c:v>
                </c:pt>
                <c:pt idx="2">
                  <c:v>-1.4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FF-CE45-8C1E-E898A37A3B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5"/>
          <c:min val="-2"/>
        </c:scaling>
        <c:delete val="0"/>
        <c:axPos val="l"/>
        <c:majorGridlines>
          <c:spPr>
            <a:ln w="6350" cap="flat">
              <a:solidFill>
                <a:srgbClr val="D8DE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761"/>
                </a:solidFill>
                <a:latin typeface="Arial"/>
              </a:rPr>
              <a:t>Times ECV ranked #1 (out of 10) — GPT-4 baseline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GPT-4 baseline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Autism</c:v>
                </c:pt>
                <c:pt idx="1">
                  <c:v>Deaf</c:v>
                </c:pt>
                <c:pt idx="2">
                  <c:v>Depression</c:v>
                </c:pt>
                <c:pt idx="3">
                  <c:v>Cerebral palsy</c:v>
                </c:pt>
                <c:pt idx="4">
                  <c:v>Blindness</c:v>
                </c:pt>
                <c:pt idx="5">
                  <c:v>General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8C-C04D-A361-7268C00388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</c:scaling>
        <c:delete val="0"/>
        <c:axPos val="l"/>
        <c:majorGridlines>
          <c:spPr>
            <a:ln w="6350" cap="flat">
              <a:solidFill>
                <a:srgbClr val="D8DE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100" b="0" i="0" u="none" strike="noStrike" dirty="0">
                <a:solidFill>
                  <a:srgbClr val="1E2761"/>
                </a:solidFill>
                <a:latin typeface="Arial"/>
              </a:rPr>
              <a:t>Li et al. 2023 — Fairness ratio (↑ =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(baseline)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Overall</c:v>
                </c:pt>
                <c:pt idx="1">
                  <c:v>India</c:v>
                </c:pt>
                <c:pt idx="2">
                  <c:v>China</c:v>
                </c:pt>
                <c:pt idx="3">
                  <c:v>Malaysia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0.309</c:v>
                </c:pt>
                <c:pt idx="1">
                  <c:v>0.16500000000000001</c:v>
                </c:pt>
                <c:pt idx="2">
                  <c:v>0.29199999999999998</c:v>
                </c:pt>
                <c:pt idx="3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5D-1E45-A2A3-9B2CCD88056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(σ-reweight)</c:v>
                </c:pt>
              </c:strCache>
            </c:strRef>
          </c:tx>
          <c:spPr>
            <a:solidFill>
              <a:srgbClr val="16A085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Overall</c:v>
                </c:pt>
                <c:pt idx="1">
                  <c:v>India</c:v>
                </c:pt>
                <c:pt idx="2">
                  <c:v>China</c:v>
                </c:pt>
                <c:pt idx="3">
                  <c:v>Malaysia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0.72</c:v>
                </c:pt>
                <c:pt idx="1">
                  <c:v>0.57999999999999996</c:v>
                </c:pt>
                <c:pt idx="2">
                  <c:v>0.7</c:v>
                </c:pt>
                <c:pt idx="3">
                  <c:v>0.78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5D-1E45-A2A3-9B2CCD8805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8DE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Pairwise </a:t>
            </a:r>
            <a:r>
              <a:rPr lang="en-US" sz="1100" b="0" i="0" u="none" strike="noStrike" kern="1200" baseline="0" dirty="0">
                <a:solidFill>
                  <a:srgbClr val="1E2761"/>
                </a:solidFill>
                <a:latin typeface="Arial"/>
                <a:ea typeface="+mn-ea"/>
                <a:cs typeface="+mn-cs"/>
              </a:rPr>
              <a:t>rank-prompting</a:t>
            </a: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</a:p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100" b="0" i="0" u="none" strike="noStrike" dirty="0">
                <a:solidFill>
                  <a:srgbClr val="1E2761"/>
                </a:solidFill>
                <a:latin typeface="Arial"/>
              </a:rPr>
              <a:t>ECV ranked #1 (out of 10)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GPT-4 baseline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Autism</c:v>
                </c:pt>
                <c:pt idx="1">
                  <c:v>Deaf</c:v>
                </c:pt>
                <c:pt idx="2">
                  <c:v>Depression</c:v>
                </c:pt>
                <c:pt idx="3">
                  <c:v>Cerebral P.</c:v>
                </c:pt>
                <c:pt idx="4">
                  <c:v>Blindness</c:v>
                </c:pt>
                <c:pt idx="5">
                  <c:v>General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F0-6C40-8C37-F9B73D055D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DA-GPT (DEI)</c:v>
                </c:pt>
              </c:strCache>
            </c:strRef>
          </c:tx>
          <c:spPr>
            <a:solidFill>
              <a:srgbClr val="16A08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Autism</c:v>
                </c:pt>
                <c:pt idx="1">
                  <c:v>Deaf</c:v>
                </c:pt>
                <c:pt idx="2">
                  <c:v>Depression</c:v>
                </c:pt>
                <c:pt idx="3">
                  <c:v>Cerebral P.</c:v>
                </c:pt>
                <c:pt idx="4">
                  <c:v>Blindness</c:v>
                </c:pt>
                <c:pt idx="5">
                  <c:v>General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7</c:v>
                </c:pt>
                <c:pt idx="2">
                  <c:v>2</c:v>
                </c:pt>
                <c:pt idx="3">
                  <c:v>7</c:v>
                </c:pt>
                <c:pt idx="4">
                  <c:v>8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F0-6C40-8C37-F9B73D055D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</c:scaling>
        <c:delete val="0"/>
        <c:axPos val="l"/>
        <c:majorGridlines>
          <c:spPr>
            <a:ln w="6350" cap="flat">
              <a:solidFill>
                <a:srgbClr val="D8DE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Gender AUC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Before (no mitigation)</c:v>
                </c:pt>
                <c:pt idx="1">
                  <c:v>After (MI penalty)</c:v>
                </c:pt>
                <c:pt idx="2">
                  <c:v>Random chance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0.85</c:v>
                </c:pt>
                <c:pt idx="1">
                  <c:v>0.55000000000000004</c:v>
                </c:pt>
                <c:pt idx="2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81-2347-974D-603C5C954C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D8DE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4160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4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89920" y="0"/>
            <a:ext cx="2286000" cy="228600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Demographic Bias and Fairness Mitigation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LLM-based Resume Screening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10972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Chih Lin Chien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486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clchien2@illinois.edu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screens your resume?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607040" y="274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11338560" cy="0"/>
          </a:xfrm>
          <a:prstGeom prst="line">
            <a:avLst/>
          </a:prstGeom>
          <a:noFill/>
          <a:ln w="9525">
            <a:solidFill>
              <a:srgbClr val="D8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26720" y="2578607"/>
            <a:ext cx="3657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26720" y="2651759"/>
            <a:ext cx="3657600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99872" y="3533241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companies will use AI for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screening </a:t>
            </a:r>
            <a:b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(ResumeBuilder 2024)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67200" y="2578607"/>
            <a:ext cx="3657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267200" y="2651759"/>
            <a:ext cx="3657600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340352" y="3533241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Fortune 500 use some form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automation in hiring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(UW News 2024)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07680" y="2578607"/>
            <a:ext cx="3657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107680" y="2651759"/>
            <a:ext cx="3657600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180832" y="3533241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companies acknowledge
AI hiring tools introduce bias
(ResumeBuilder 2024)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4000000" y="33558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000000" y="3685032"/>
            <a:ext cx="24688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6350">
            <a:solidFill>
              <a:srgbClr val="D8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14000000" y="64922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607040" y="274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11338560" cy="0"/>
          </a:xfrm>
          <a:prstGeom prst="line">
            <a:avLst/>
          </a:prstGeom>
          <a:noFill/>
          <a:ln w="9525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interconnected questions guide this literature review: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113385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6276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325880" y="15727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recent studies audit LLMs for bias in resume screening contexts?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0574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113385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31363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25880" y="30815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fairness definitions and mathematical frameworks are employed?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35661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113385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46451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25880" y="45902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mitigation strategies have been proposed?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50749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6350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40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an LLM decide whether to hire?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607040" y="274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11338560" cy="0"/>
          </a:xfrm>
          <a:prstGeom prst="line">
            <a:avLst/>
          </a:prstGeom>
          <a:noFill/>
          <a:ln w="9525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657600" cy="365760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94360" y="1527048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4356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Embedding retrieval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764792"/>
            <a:ext cx="338328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sim(d, p) = ⟨R(d), R(p)⟩ / (‖R(d)‖·‖R(p)‖)</a:t>
            </a:r>
            <a:endParaRPr lang="en-US" sz="1050" dirty="0"/>
          </a:p>
          <a:p>
            <a:pPr marL="0" indent="0">
              <a:buNone/>
            </a:pPr>
            <a:endParaRPr lang="en-US" sz="105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cosine similarity </a:t>
            </a:r>
          </a:p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enters through R</a:t>
            </a:r>
            <a:r>
              <a:rPr lang="zh-TW" alt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encoder inherits stereotypes from pre-training corpus.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1325880"/>
            <a:ext cx="3657600" cy="3657600"/>
          </a:xfrm>
          <a:prstGeom prst="rect">
            <a:avLst/>
          </a:prstGeom>
          <a:solidFill>
            <a:srgbClr val="FEF5E7"/>
          </a:solidFill>
          <a:ln w="12700">
            <a:solidFill>
              <a:srgbClr val="FEF5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34840" y="152704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14356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Prompt-based scoring (0–100)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1764792"/>
            <a:ext cx="338328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= { i : sᵢ ≥ τ }      [τ = 80/100]</a:t>
            </a:r>
            <a:endParaRPr lang="en-US" sz="1050" dirty="0"/>
          </a:p>
          <a:p>
            <a:pPr marL="0" indent="0">
              <a:buNone/>
            </a:pPr>
            <a:r>
              <a:rPr lang="en-US" sz="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prompted to give numeric score; threshold converts to accept/reject.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enters through the LLM's prior on names</a:t>
            </a:r>
          </a:p>
          <a:p>
            <a:pPr marL="0" indent="0">
              <a:buNone/>
            </a:pPr>
            <a:endParaRPr lang="en-US" sz="1050" i="1" dirty="0">
              <a:solidFill>
                <a:srgbClr val="5B6B8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cs typeface="Calibri" pitchFamily="34" charset="-120"/>
              </a:rPr>
              <a:t>— Reinforcement Learning from Human Feedback cannot fully remove associations.</a:t>
            </a:r>
          </a:p>
        </p:txBody>
      </p:sp>
      <p:sp>
        <p:nvSpPr>
          <p:cNvPr id="15" name="Shape 13"/>
          <p:cNvSpPr/>
          <p:nvPr/>
        </p:nvSpPr>
        <p:spPr>
          <a:xfrm>
            <a:off x="8138160" y="1325880"/>
            <a:ext cx="3657600" cy="365760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75320" y="1527048"/>
            <a:ext cx="109728" cy="10972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58200" y="14356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Pairwise / rank prompting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75320" y="1764792"/>
            <a:ext cx="338328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P(rank₁ = CV | A=a)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vs. P(rank₁ = CV | A=b)</a:t>
            </a:r>
            <a:endParaRPr lang="en-US" sz="1050" dirty="0"/>
          </a:p>
          <a:p>
            <a:pPr marL="0" indent="0">
              <a:buNone/>
            </a:pPr>
            <a:r>
              <a:rPr lang="en-US" sz="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perturbation: swap only the protected attribute, hold qualifications fixed.</a:t>
            </a:r>
          </a:p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enters through in-context heuristics that treat linguistic cues as quality signals.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6350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</a:t>
            </a: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 &amp; Caliskan (AIES 2024); An et al. (PNAS Nexus 2025); Glazko et al. (FAccT 2024); Li et al. (arXiv 2023).</a:t>
            </a:r>
            <a:endParaRPr lang="en-US" sz="9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9BDFD57-A0B0-8134-CCCF-37DE684C04A9}"/>
              </a:ext>
            </a:extLst>
          </p:cNvPr>
          <p:cNvSpPr txBox="1"/>
          <p:nvPr/>
        </p:nvSpPr>
        <p:spPr>
          <a:xfrm>
            <a:off x="533400" y="2693865"/>
            <a:ext cx="26267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R(d) = </a:t>
            </a:r>
            <a:r>
              <a:rPr lang="en-US" sz="1100" dirty="0" err="1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</a:t>
            </a: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ᵢ fᵢ · W(tᵢ)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Bias: race &amp; gender — the headline numbers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607040" y="274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11338560" cy="0"/>
          </a:xfrm>
          <a:prstGeom prst="line">
            <a:avLst/>
          </a:prstGeom>
          <a:noFill/>
          <a:ln w="9525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932688" cy="27432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embedding retrieval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" y="146304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(E5-mistral-7b, GritLM-7B, SFR-Embedding-Mistral) × 554 resumes × 571 JDs × 9 occupations × 120 names → 3M+ cosine comparisons.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57200" y="2880360"/>
          <a:ext cx="56692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640080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761"/>
                </a:solidFill>
                <a:latin typeface="Georgia" pitchFamily="34" charset="0"/>
              </a:rPr>
              <a:t>Tested prompt-based scoring</a:t>
            </a: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5 LLMs · 361K resumes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0" y="173736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LLMs: GPT-3.5 Turbo, GPT-4o, Gemini 1.5, Claude 3.5, Llama 3-70B. Prompt-based scoring 0–100.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Econometric model: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Score_{i,j,k} = α + β·Female + γ·BlackMale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+ δ·BlackFemale + Position + State + ε</a:t>
            </a:r>
            <a:endParaRPr lang="en-US" sz="1100" dirty="0"/>
          </a:p>
        </p:txBody>
      </p:sp>
      <p:graphicFrame>
        <p:nvGraphicFramePr>
          <p:cNvPr id="13" name="Chart 1"/>
          <p:cNvGraphicFramePr/>
          <p:nvPr/>
        </p:nvGraphicFramePr>
        <p:xfrm>
          <a:off x="6400800" y="3200400"/>
          <a:ext cx="54864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 12"/>
          <p:cNvSpPr/>
          <p:nvPr/>
        </p:nvSpPr>
        <p:spPr>
          <a:xfrm>
            <a:off x="594360" y="5596128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6350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</a:t>
            </a: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 &amp; Caliskan (2024) AIES, arXiv:2407.20371.  An et al. (2025) PNAS Nexus 4(3):pgaf089.</a:t>
            </a:r>
            <a:endParaRPr lang="en-US" sz="9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DB270B-473D-1EAD-8A59-38B3ECE3CCC6}"/>
              </a:ext>
            </a:extLst>
          </p:cNvPr>
          <p:cNvSpPr txBox="1"/>
          <p:nvPr/>
        </p:nvSpPr>
        <p:spPr>
          <a:xfrm>
            <a:off x="7117689" y="5518737"/>
            <a:ext cx="61008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rgbClr val="5B6B82"/>
                </a:solidFill>
                <a:latin typeface="Calibri" pitchFamily="34" charset="0"/>
                <a:cs typeface="Calibri" pitchFamily="34" charset="-120"/>
              </a:rPr>
              <a:t>Reinforcement Learning from Human Feedback</a:t>
            </a:r>
            <a:br>
              <a:rPr lang="en-US" sz="1000" i="1" dirty="0">
                <a:solidFill>
                  <a:srgbClr val="5B6B82"/>
                </a:solidFill>
                <a:latin typeface="Calibri" pitchFamily="34" charset="0"/>
                <a:cs typeface="Calibri" pitchFamily="34" charset="-120"/>
              </a:rPr>
            </a:br>
            <a:r>
              <a:rPr lang="en-US" sz="1000" i="1" dirty="0">
                <a:solidFill>
                  <a:srgbClr val="5B6B82"/>
                </a:solidFill>
                <a:latin typeface="Calibri" pitchFamily="34" charset="0"/>
                <a:cs typeface="Calibri" pitchFamily="34" charset="-120"/>
              </a:rPr>
              <a:t>	over </a:t>
            </a:r>
            <a:r>
              <a:rPr lang="en-US" sz="1000" i="1" dirty="0" err="1">
                <a:solidFill>
                  <a:srgbClr val="5B6B82"/>
                </a:solidFill>
                <a:latin typeface="Calibri" pitchFamily="34" charset="0"/>
                <a:cs typeface="Calibri" pitchFamily="34" charset="-120"/>
              </a:rPr>
              <a:t>corrention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proxy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607040" y="274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11338560" cy="0"/>
          </a:xfrm>
          <a:prstGeom prst="line">
            <a:avLst/>
          </a:prstGeom>
          <a:noFill/>
          <a:ln w="9525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79576" cy="27432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BIAS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Bhatnagar et al. (IEEE SIEDS 2025)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5486400" cy="868680"/>
          </a:xfrm>
          <a:prstGeom prst="rect">
            <a:avLst/>
          </a:prstGeom>
          <a:solidFill>
            <a:srgbClr val="FAECEC"/>
          </a:solidFill>
          <a:ln w="12700">
            <a:solidFill>
              <a:srgbClr val="FAEC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7373" y="2598773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240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gaps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5420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 affects women.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5486400" cy="868680"/>
          </a:xfrm>
          <a:prstGeom prst="rect">
            <a:avLst/>
          </a:prstGeom>
          <a:solidFill>
            <a:srgbClr val="FAECEC"/>
          </a:solidFill>
          <a:ln w="12700">
            <a:solidFill>
              <a:srgbClr val="FAEC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02920" y="3596316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54787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"executed" vs. "helped" encodes gender; education terms encode class.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5486400" cy="868680"/>
          </a:xfrm>
          <a:prstGeom prst="rect">
            <a:avLst/>
          </a:prstGeom>
          <a:solidFill>
            <a:srgbClr val="FAECEC"/>
          </a:solidFill>
          <a:ln w="12700">
            <a:solidFill>
              <a:srgbClr val="FAE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7373" y="4617720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251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/ ZIP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5537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name &amp; location are strong predictors of race.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0" y="13716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Li, Li &amp; Lu (arXiv 2023) — National origin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17373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 exploit vocabulary linked to cultural backgrounds.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148840"/>
            <a:ext cx="5577840" cy="105156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27648" y="2240280"/>
            <a:ext cx="2093976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27648" y="2240280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embedding + match score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82512" y="256032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R(d) = Σᵢ fᵢ · W(tᵢ)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sim(d,p) = R(d)·R(p) / (‖R(d)‖·‖R(p)‖)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3291840"/>
            <a:ext cx="5577840" cy="141732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27648" y="3383280"/>
            <a:ext cx="3026664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27648" y="338328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measurement — p-ratio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82512" y="370332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p(t) = P(t | d_min) / P(t | d_max)        [p-ratio]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"Shanghai": p = 0.001/0.05 = 0.02 (biased)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"Python":  p ≈ 1.0 (neutral)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6350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</a:t>
            </a: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Bhatnagar et al. (2025) IEEE SIEDS. Li, Li &amp; Lu (2023) arXiv:2307.08624.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GPT-4: disability bias in ranking -Pairwise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607040" y="274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11338560" cy="0"/>
          </a:xfrm>
          <a:prstGeom prst="line">
            <a:avLst/>
          </a:prstGeom>
          <a:noFill/>
          <a:ln w="9525">
            <a:solidFill>
              <a:srgbClr val="D8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Pairwise rank-prompting on GPT-4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CV vs. Enhanced CV (+disability award, scholarship, panel, membership). 6 disabilities × N=60 trials. Fisher's exact / χ² tests.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000000" y="23957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000000" y="2724912"/>
            <a:ext cx="5303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6070043"/>
              </p:ext>
            </p:extLst>
          </p:nvPr>
        </p:nvGraphicFramePr>
        <p:xfrm>
          <a:off x="310896" y="2743200"/>
          <a:ext cx="113385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6350">
            <a:solidFill>
              <a:srgbClr val="D8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</a:t>
            </a: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Glazko, Mohammed, Kosa, Potluri &amp; Mankoff (2024). ACM FAccT '24. DOI: 10.1145/3630106.3658933.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Mitigation 1: pre-processing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607040" y="274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11338560" cy="0"/>
          </a:xfrm>
          <a:prstGeom prst="line">
            <a:avLst/>
          </a:prstGeom>
          <a:noFill/>
          <a:ln w="9525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426464" cy="274320"/>
          </a:xfrm>
          <a:prstGeom prst="roundRect">
            <a:avLst>
              <a:gd name="adj" fmla="val 16667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" y="2377440"/>
            <a:ext cx="5669280" cy="237744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2578608"/>
            <a:ext cx="109728" cy="10972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48716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Vector-space debiasing (Bolukbasi 2016 via Albaroudi 2024)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816352"/>
            <a:ext cx="539496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Find gender direction by PCA on paired vectors: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 = PC₁({ v_he − v_she , v_man − v_woman , … })</a:t>
            </a:r>
            <a:endParaRPr lang="en-US" sz="1050" dirty="0"/>
          </a:p>
          <a:p>
            <a:pPr marL="0" indent="0">
              <a:buNone/>
            </a:pPr>
            <a:r>
              <a:rPr lang="en-US" sz="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Project gender-neutral words orthogonally: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v′ = v − ⟨v, g⟩ · g</a:t>
            </a:r>
            <a:endParaRPr lang="en-US" sz="1050" dirty="0"/>
          </a:p>
          <a:p>
            <a:pPr marL="0" indent="0">
              <a:buNone/>
            </a:pPr>
            <a:r>
              <a:rPr lang="en-US" sz="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"man:programmer :: woman:?" → no longer "homemaker" but "engineer".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2377440"/>
            <a:ext cx="5577840" cy="237744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55080" y="2578608"/>
            <a:ext cx="109728" cy="10972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37960" y="24871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-gated term re-weighting (Li et al. 2023)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816352"/>
            <a:ext cx="530352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Down-weight country-revealing tokens before matching:</a:t>
            </a:r>
            <a:endParaRPr lang="en-US" sz="1050" dirty="0"/>
          </a:p>
          <a:p>
            <a:pPr marL="0" indent="0">
              <a:buNone/>
            </a:pPr>
            <a:r>
              <a:rPr lang="en-US" sz="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 p(t) = P(t|d_min) / P(</a:t>
            </a:r>
            <a:r>
              <a:rPr lang="en-US" sz="1000" dirty="0" err="1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t|d_max</a:t>
            </a: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 [</a:t>
            </a:r>
            <a:r>
              <a:rPr lang="zh-TW" alt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altLang="zh-TW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– ratio ]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 R̄</a:t>
            </a:r>
            <a:r>
              <a:rPr lang="zh-TW" alt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(d) = Σᵢ fᵢ·W(tᵢ)·σ(λ·(p(tᵢ)−τ))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[λ=50, τ=0.3]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Fairness=0.309 → after re-weighting: Fairness ↑, Accuracy preserved.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6350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</a:t>
            </a: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Bolukbasi et al. 2016 (NeurIPS). Li et al. 2023 (arXiv:2307.08624). Haughey et al. 2025 (ASEE, DOI:10.18260/1-2--56071).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3C481CF-B0D2-6446-44FA-EA53C50E0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4343668"/>
            <a:ext cx="3151022" cy="201141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1EE2347-3D1A-A76C-D219-559CAB156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922" y="4427156"/>
            <a:ext cx="2856586" cy="19279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Mitigation 2: adversarial debiasing (Zhang 2018)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607040" y="274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11338560" cy="0"/>
          </a:xfrm>
          <a:prstGeom prst="line">
            <a:avLst/>
          </a:prstGeom>
          <a:noFill/>
          <a:ln w="9525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344168" cy="274320"/>
          </a:xfrm>
          <a:prstGeom prst="roundRect">
            <a:avLst>
              <a:gd name="adj" fmla="val 16667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7092086" cy="137160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" y="1874520"/>
            <a:ext cx="1845259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1874520"/>
            <a:ext cx="18452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min–max objective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" y="2194560"/>
            <a:ext cx="75858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min_{θ_P}  [  L_pred(Y, Ŷ ; </a:t>
            </a:r>
            <a:r>
              <a:rPr lang="en-US" sz="1200" dirty="0" err="1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θ_P</a:t>
            </a: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zh-TW" altLang="en-US" sz="1200" dirty="0"/>
              <a:t>   </a:t>
            </a: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  α · L_adv(Z, Ẑ ; θ_A, θ_P)  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04489"/>
            <a:ext cx="3703320" cy="1463040"/>
          </a:xfrm>
          <a:prstGeom prst="rect">
            <a:avLst/>
          </a:prstGeom>
          <a:solidFill>
            <a:srgbClr val="FEF5E7"/>
          </a:solidFill>
          <a:ln w="12700">
            <a:solidFill>
              <a:srgbClr val="FEF5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" y="4105657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4014217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controls fairness</a:t>
            </a:r>
            <a:r>
              <a:rPr lang="zh-TW" alt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4343401"/>
            <a:ext cx="3429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trades accuracy for fairness.</a:t>
            </a:r>
            <a:endParaRPr lang="en-US" sz="1050" dirty="0"/>
          </a:p>
          <a:p>
            <a:pPr marL="0" indent="0">
              <a:buNone/>
            </a:pPr>
            <a:r>
              <a:rPr lang="en-US" sz="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α → stronger debiasing, more accuracy loss.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51960" y="3904489"/>
            <a:ext cx="3749040" cy="146304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389120" y="4105657"/>
            <a:ext cx="109728" cy="10972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0" y="4014217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Adversary inputs → fairness type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0" y="4343401"/>
            <a:ext cx="3474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Ŷ only → Demographic parity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(Ŷ, Y) → Equalized odds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6350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</a:t>
            </a: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Zhang, Lemoine &amp; Mitchell (2018). AIES '18. DOI:10.1145/3278721.3278779. arXiv:1801.07593.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Mitigation 3: privacy-enhancing debiasing (Peña 2025)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607040" y="274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11338560" cy="0"/>
          </a:xfrm>
          <a:prstGeom prst="line">
            <a:avLst/>
          </a:prstGeom>
          <a:noFill/>
          <a:ln w="9525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344168" cy="274320"/>
          </a:xfrm>
          <a:prstGeom prst="roundRect">
            <a:avLst>
              <a:gd name="adj" fmla="val 16667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treat the protected attribute G as data the LLM should not be able to read its own hidden state 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11338560" cy="219456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" y="1920240"/>
            <a:ext cx="2715768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1920240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Privacy-Enhancing Loss — full derivation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" y="2240280"/>
            <a:ext cx="11018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  h = f_θ(x) ∈ ℝᵏ      (LLM hidden representation of resume 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  g_φ : ℝᵏ → {0,1}      (gender-classifier head, cross-entropy loss L_G)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Joint training objective 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L(θ, φ)  =  L_task(θ)  −  α · L_G(φ ; θ)  +  β · I(h ; G)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min_θ max_φ L(θ, φ)  →  θ minimizes task loss while making h gender-uninformative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" y="4191609"/>
            <a:ext cx="5577840" cy="155448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0936" y="4392777"/>
            <a:ext cx="109728" cy="10972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13816" y="4301337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" y="4630521"/>
            <a:ext cx="5303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classifier on h → near-chance accuracy, while task accuracy preserved.</a:t>
            </a:r>
            <a:endParaRPr lang="en-US" sz="1050" dirty="0"/>
          </a:p>
          <a:p>
            <a:pPr marL="0" indent="0">
              <a:buNone/>
            </a:pPr>
            <a:r>
              <a:rPr lang="en-US" sz="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h ≤ 0.55.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6350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</a:t>
            </a: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Peña, Fierrez, Morales et al. (2025). AIES 2025 8(2):1976–1987. DOI:10.1609/aies.v8i2.36689. arXiv:2506.11880.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Mitigation 4: prompt </a:t>
            </a: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injection</a:t>
            </a: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607040" y="274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11338560" cy="0"/>
          </a:xfrm>
          <a:prstGeom prst="line">
            <a:avLst/>
          </a:prstGeom>
          <a:noFill/>
          <a:ln w="9525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508760" cy="274320"/>
          </a:xfrm>
          <a:prstGeom prst="roundRect">
            <a:avLst>
              <a:gd name="adj" fmla="val 16667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 prompt injection — Glazko et al. 2024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5669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GPTs Editor to inject written DEI &amp; disability justice principles into the system prompt.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GPT-4: ECVs ranked #1 in only 15/60 trials.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DA-GPT: </a:t>
            </a:r>
            <a:r>
              <a:rPr lang="en-US" sz="11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37/60 trials — improvement on 5 of 6 disabilities.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depression shows no improvement.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no fine-tuning, no compute cost, immediate deployment.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Con: fragile — depends on prompt adherence; no mathematical guarantee.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5074920"/>
            <a:ext cx="11338560" cy="1097280"/>
          </a:xfrm>
          <a:prstGeom prst="rect">
            <a:avLst/>
          </a:prstGeom>
          <a:solidFill>
            <a:srgbClr val="F4F6FB"/>
          </a:solidFill>
          <a:ln w="9525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512064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vs. model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5394960"/>
            <a:ext cx="11109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Prompt-based (Glazko):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zero-cost, suitable for off-the-shelf LLMs where you can't retrain. No guarantee.  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(Mishra/Zhang):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slower, requires training access, provides mathematical fairness guarantees + explainable audit trails.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6350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</a:t>
            </a: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Glazko et al. (2024) FAccT. Mishra (2025) SSRN 5160444.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mitigations actually work?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607040" y="274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11338560" cy="0"/>
          </a:xfrm>
          <a:prstGeom prst="line">
            <a:avLst/>
          </a:prstGeom>
          <a:noFill/>
          <a:ln w="9525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50392" cy="274320"/>
          </a:xfrm>
          <a:prstGeom prst="roundRect">
            <a:avLst>
              <a:gd name="adj" fmla="val 16667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1371600"/>
          <a:ext cx="56692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/>
          <p:cNvGraphicFramePr/>
          <p:nvPr>
            <p:extLst>
              <p:ext uri="{D42A27DB-BD31-4B8C-83A1-F6EECF244321}">
                <p14:modId xmlns:p14="http://schemas.microsoft.com/office/powerpoint/2010/main" val="4000342746"/>
              </p:ext>
            </p:extLst>
          </p:nvPr>
        </p:nvGraphicFramePr>
        <p:xfrm>
          <a:off x="6217920" y="1371600"/>
          <a:ext cx="55778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39319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Vector-space debiasing</a:t>
            </a:r>
            <a:r>
              <a:rPr lang="zh-TW" altLang="en-US" sz="1100" dirty="0"/>
              <a:t> 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Word embedding analogy test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4251960"/>
            <a:ext cx="2743200" cy="1371600"/>
          </a:xfrm>
          <a:prstGeom prst="rect">
            <a:avLst/>
          </a:prstGeom>
          <a:solidFill>
            <a:srgbClr val="FAECEC"/>
          </a:solidFill>
          <a:ln w="12700">
            <a:solidFill>
              <a:srgbClr val="FAE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94360" y="4453128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77240" y="43616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biased model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4360" y="4690872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 : she :: doctor : ?"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nurse, nanny, fiancée, maid, mother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291840" y="4251960"/>
            <a:ext cx="2834640" cy="137160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429000" y="4453128"/>
            <a:ext cx="109728" cy="10972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3611880" y="43616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adversarial debiasing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429000" y="4690872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 : she :: doctor : ?"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physician, surgeon, pediatrician, dentist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217920" y="39319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privacy-enhancing debiasing</a:t>
            </a:r>
            <a:r>
              <a:rPr lang="zh-TW" alt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Gender classifier on hidden state h</a:t>
            </a:r>
            <a:endParaRPr lang="en-US" sz="1100" dirty="0"/>
          </a:p>
        </p:txBody>
      </p:sp>
      <p:graphicFrame>
        <p:nvGraphicFramePr>
          <p:cNvPr id="20" name="Chart 2"/>
          <p:cNvGraphicFramePr/>
          <p:nvPr/>
        </p:nvGraphicFramePr>
        <p:xfrm>
          <a:off x="6217920" y="4251960"/>
          <a:ext cx="557784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Shape 19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6350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</a:t>
            </a: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 2023 (arXiv:2307.08624); Glazko et al. 2024 (FAccT); Zhang et al. 2018 (AIES); Peña et al. 2025 (AIES).</a:t>
            </a:r>
            <a:endParaRPr lang="en-US" sz="9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A186E6-B4A8-4B01-FE2F-B69F0375CAE3}"/>
              </a:ext>
            </a:extLst>
          </p:cNvPr>
          <p:cNvSpPr txBox="1"/>
          <p:nvPr/>
        </p:nvSpPr>
        <p:spPr>
          <a:xfrm>
            <a:off x="2390242" y="1217935"/>
            <a:ext cx="61008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-gated term re-weighting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Comparative analysis: which mitigation works when?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607040" y="274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11338560" cy="0"/>
          </a:xfrm>
          <a:prstGeom prst="line">
            <a:avLst/>
          </a:prstGeom>
          <a:noFill/>
          <a:ln w="9525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325487"/>
              </p:ext>
            </p:extLst>
          </p:nvPr>
        </p:nvGraphicFramePr>
        <p:xfrm>
          <a:off x="1214324" y="1583742"/>
          <a:ext cx="9961169" cy="4119352"/>
        </p:xfrm>
        <a:graphic>
          <a:graphicData uri="http://schemas.openxmlformats.org/drawingml/2006/table">
            <a:tbl>
              <a:tblPr/>
              <a:tblGrid>
                <a:gridCol w="1943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2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7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77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77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21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37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Paper(s)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retraining?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types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1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Vector-space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Bolukbasi 2016;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Albaroudi 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1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σ-gated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re-weighting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 et al. 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origin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1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Adversarial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debiasing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 2018;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Mishra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Race, gender,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1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Privacy-MI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Peña et al.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(generalizable)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71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DEI prompt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Glazko et al. 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Post-hoc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26720" y="6492240"/>
            <a:ext cx="11338560" cy="0"/>
          </a:xfrm>
          <a:prstGeom prst="line">
            <a:avLst/>
          </a:prstGeom>
          <a:noFill/>
          <a:ln w="6350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</a:t>
            </a: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papers synthesized. Zhang 2018; Peña 2025; Glazko 2024; Li 2023; Albaroudi 2024; Raghavan 2020; Mishra 2025; Haughey 2025.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10972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607040" y="411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mitigation is enough. 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7432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7432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audit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749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Albaroudi 2024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Haughey 2025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1737360"/>
            <a:ext cx="27432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83280" y="1737360"/>
            <a:ext cx="27432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83280" y="1755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Pre-process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2402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projection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σ-gated p-ratio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3749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Bolukbasi 2016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2023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1737360"/>
            <a:ext cx="27432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0" y="1737360"/>
            <a:ext cx="2743200" cy="38404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09360" y="1755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In-process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22402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debiasing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privacy penalty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3749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2018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Peña 2025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235440" y="1737360"/>
            <a:ext cx="27432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235440" y="1737360"/>
            <a:ext cx="2743200" cy="38404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235440" y="1755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Post / Deploy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72600" y="22402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 prompt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Four-fifths audit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72600" y="3749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Glazko 2024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Mishra 2025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Raghavan 2020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937760"/>
            <a:ext cx="11247120" cy="1441094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4983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acceptance criteria for an LLM resume screener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303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 ≥ 0.8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(EEOC four-fifths)     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|β̂| ≤ 0.5 score pts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(~1 pp gap @ τ=80)     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Adversary AUC ≤ 0.55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(Peña criterion)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Top-1 rank parity ≥ 1/k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counterfactual perturbation     </a:t>
            </a:r>
            <a:endParaRPr lang="en-US" sz="11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SHAP: no protected-proxy feature in top-5 contributors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0972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607040" y="411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26187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bias is universal, not LLM</a:t>
            </a:r>
            <a:r>
              <a:rPr lang="zh-TW" alt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30428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28600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Removing names is necessary but not sufficient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332841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31012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Disability bias is the most overlooked dimension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435254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33425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Mathematical guarantees exist ,  but require retraining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607040" y="274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11338560" cy="0"/>
          </a:xfrm>
          <a:prstGeom prst="line">
            <a:avLst/>
          </a:prstGeom>
          <a:noFill/>
          <a:ln w="9525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33856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Raghavan et al. (2020). Mitigating Bias in Algorithmic Hiring. FAT* '20. DOI:10.1145/3351095.3372828.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Albaroudi et al. (2024). AI Techniques for Algorithmic Bias in Job Hiring. AI 5(1):383–404.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Wilson &amp; Caliskan (2024). Gender, Race, and Intersectional Bias in Resume Screening. AIES '24. arXiv:2407.20371.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An et al. (2025). Gender and Racial Biases in LLMs. PNAS Nexus 4(3):pgaf089.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Bhatnagar et al. (2025). Beyond Traditional Biases in AI Hiring. IEEE SIEDS 2025.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Li, Li &amp; Lu (2023). National Origin Discrimination in DL Resume Screening. arXiv:2307.08624.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Glazko et al. (2024). Disability Bias in GPT-Based Resume Screening. ACM FAccT '24. DOI:10.1145/3630106.3658933.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Peña et al. (2025). Addressing Bias in LLMs: Fair AI-based Recruitment. AIES '25. arXiv:2506.11880.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Mishra (2025). Exploring Bias in AI-Driven Resume Screening. SSRN 5160444.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Haughey et al. (2025). Synthetic Datasets for Bias in Resume Screening. ASEE 2025. DOI:10.18260/1-2--56071.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Zhang, Lemoine &amp; Mitchell (2018). Adversarial Learning for Bias Mitigation. AIES '18. arXiv:1801.07593.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</TotalTime>
  <Words>2156</Words>
  <Application>Microsoft Macintosh PowerPoint</Application>
  <PresentationFormat>Widescreen</PresentationFormat>
  <Paragraphs>295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Demographic Bias and Fairness Mitigation in LLM-based Resume Screening</dc:title>
  <dc:subject>PptxGenJS Presentation</dc:subject>
  <dc:creator>Chih Lin Chien</dc:creator>
  <cp:lastModifiedBy>Chien, Chih-Lin</cp:lastModifiedBy>
  <cp:revision>2</cp:revision>
  <dcterms:created xsi:type="dcterms:W3CDTF">2026-05-04T20:57:05Z</dcterms:created>
  <dcterms:modified xsi:type="dcterms:W3CDTF">2026-05-05T20:43:01Z</dcterms:modified>
</cp:coreProperties>
</file>